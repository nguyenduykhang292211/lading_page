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Poppins" charset="0"/>
      <p:regular r:id="rId15"/>
      <p:bold r:id="rId16"/>
      <p:italic r:id="rId17"/>
      <p:boldItalic r:id="rId18"/>
    </p:embeddedFont>
    <p:embeddedFont>
      <p:font typeface="Calibri" pitchFamily="34" charset="0"/>
      <p:regular r:id="rId19"/>
      <p:bold r:id="rId20"/>
      <p:italic r:id="rId21"/>
      <p:boldItalic r:id="rId22"/>
    </p:embeddedFont>
    <p:embeddedFont>
      <p:font typeface="Lato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-86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117fe247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g3e117fe24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e117fe247f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g3e117fe247f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e117fe247f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g3e117fe247f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e117fe247f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g3e117fe247f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e117fe247f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g3e117fe247f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1610617"/>
            <a:ext cx="11601450" cy="19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FINANCIAL PRODUCTS &amp;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1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SERVICES ECOSYSTEM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4010917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FB800"/>
                </a:solidFill>
                <a:latin typeface="Lato"/>
                <a:ea typeface="Lato"/>
                <a:cs typeface="Lato"/>
                <a:sym typeface="Lato"/>
              </a:rPr>
              <a:t>Effective Investment Solutions - Accompanying Prosperity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5381625" y="4818608"/>
            <a:ext cx="1428750" cy="47625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857250" y="6267450"/>
            <a:ext cx="116205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Bao Viet Securities Joint Stock Company (BVSC)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/>
        </p:nvSpPr>
        <p:spPr>
          <a:xfrm>
            <a:off x="762000" y="571500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4185"/>
                </a:solidFill>
                <a:latin typeface="Poppins"/>
                <a:ea typeface="Poppins"/>
                <a:cs typeface="Poppins"/>
                <a:sym typeface="Poppins"/>
              </a:rPr>
              <a:t>WHY CHOOSE BVSC?</a:t>
            </a:r>
            <a:endParaRPr/>
          </a:p>
        </p:txBody>
      </p:sp>
      <p:sp>
        <p:nvSpPr>
          <p:cNvPr id="94" name="Google Shape;94;p14"/>
          <p:cNvSpPr/>
          <p:nvPr/>
        </p:nvSpPr>
        <p:spPr>
          <a:xfrm>
            <a:off x="571500" y="571500"/>
            <a:ext cx="95400" cy="6000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3450" y="1838325"/>
            <a:ext cx="4286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1647825" y="1869727"/>
            <a:ext cx="6657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Bao Viet Group Member:</a:t>
            </a:r>
            <a:r>
              <a:rPr lang="en-U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 leading financial institution in Vietnam.</a:t>
            </a:r>
            <a:endParaRPr/>
          </a:p>
        </p:txBody>
      </p:sp>
      <p:pic>
        <p:nvPicPr>
          <p:cNvPr id="97" name="Google Shape;97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3450" y="2981325"/>
            <a:ext cx="323850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1543050" y="3012727"/>
            <a:ext cx="6619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20+ Years Experience:</a:t>
            </a:r>
            <a:r>
              <a:rPr lang="en-U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Extensive history and deep market insights.</a:t>
            </a:r>
            <a:endParaRPr/>
          </a:p>
        </p:txBody>
      </p:sp>
      <p:pic>
        <p:nvPicPr>
          <p:cNvPr id="99" name="Google Shape;99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33450" y="4124325"/>
            <a:ext cx="4286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1647825" y="4155727"/>
            <a:ext cx="6581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Multi-channel Support:</a:t>
            </a:r>
            <a:r>
              <a:rPr lang="en-U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In-person, Hotline 19001018, and Online.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0556" y="1798235"/>
            <a:ext cx="3492400" cy="24934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08706" y="1798235"/>
            <a:ext cx="3492549" cy="24934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87006" y="1798235"/>
            <a:ext cx="3492400" cy="2493466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762000" y="571500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4185"/>
                </a:solidFill>
                <a:latin typeface="Poppins"/>
                <a:ea typeface="Poppins"/>
                <a:cs typeface="Poppins"/>
                <a:sym typeface="Poppins"/>
              </a:rPr>
              <a:t>SPECIAL PROMOTIONS 2026</a:t>
            </a:r>
            <a:endParaRPr/>
          </a:p>
        </p:txBody>
      </p:sp>
      <p:sp>
        <p:nvSpPr>
          <p:cNvPr id="109" name="Google Shape;109;p15"/>
          <p:cNvSpPr/>
          <p:nvPr/>
        </p:nvSpPr>
        <p:spPr>
          <a:xfrm>
            <a:off x="571500" y="571500"/>
            <a:ext cx="95400" cy="6000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743283" y="2131610"/>
            <a:ext cx="30669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B800"/>
                </a:solidFill>
                <a:latin typeface="Poppins"/>
                <a:ea typeface="Poppins"/>
                <a:cs typeface="Poppins"/>
                <a:sym typeface="Poppins"/>
              </a:rPr>
              <a:t>Welcome Gift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816306" y="2598335"/>
            <a:ext cx="2920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4185"/>
                </a:solidFill>
                <a:latin typeface="Lato"/>
                <a:ea typeface="Lato"/>
                <a:cs typeface="Lato"/>
                <a:sym typeface="Lato"/>
              </a:rPr>
              <a:t>100,000 VND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816306" y="3246035"/>
            <a:ext cx="2920800" cy="5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For new </a:t>
            </a:r>
            <a:r>
              <a:rPr lang="en-US" sz="1425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eKYC</a:t>
            </a:r>
            <a:r>
              <a:rPr lang="en-US" sz="14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accounts on first successful login.</a:t>
            </a:r>
            <a:endParaRPr dirty="0"/>
          </a:p>
        </p:txBody>
      </p:sp>
      <p:sp>
        <p:nvSpPr>
          <p:cNvPr id="113" name="Google Shape;113;p15"/>
          <p:cNvSpPr txBox="1"/>
          <p:nvPr/>
        </p:nvSpPr>
        <p:spPr>
          <a:xfrm>
            <a:off x="4521430" y="2131610"/>
            <a:ext cx="30672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B800"/>
                </a:solidFill>
                <a:latin typeface="Poppins"/>
                <a:ea typeface="Poppins"/>
                <a:cs typeface="Poppins"/>
                <a:sym typeface="Poppins"/>
              </a:rPr>
              <a:t>Low Fees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4594456" y="2598335"/>
            <a:ext cx="2921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4185"/>
                </a:solidFill>
                <a:latin typeface="Lato"/>
                <a:ea typeface="Lato"/>
                <a:cs typeface="Lato"/>
                <a:sym typeface="Lato"/>
              </a:rPr>
              <a:t>0.15%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4594456" y="3246035"/>
            <a:ext cx="2921100" cy="5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Applied to Web and App trading platforms.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8299733" y="2131610"/>
            <a:ext cx="30669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B800"/>
                </a:solidFill>
                <a:latin typeface="Poppins"/>
                <a:ea typeface="Poppins"/>
                <a:cs typeface="Poppins"/>
                <a:sym typeface="Poppins"/>
              </a:rPr>
              <a:t>Ecosystem Voucher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8372756" y="2598335"/>
            <a:ext cx="2920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4185"/>
                </a:solidFill>
                <a:latin typeface="Lato"/>
                <a:ea typeface="Lato"/>
                <a:cs typeface="Lato"/>
                <a:sym typeface="Lato"/>
              </a:rPr>
              <a:t>Up to 2M VND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8372756" y="3246035"/>
            <a:ext cx="2920800" cy="5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Bao Viet Insurance vouchers based on monthly fees.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648075"/>
            <a:ext cx="11049000" cy="263842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762000" y="571500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4185"/>
                </a:solidFill>
                <a:latin typeface="Poppins"/>
                <a:ea typeface="Poppins"/>
                <a:cs typeface="Poppins"/>
                <a:sym typeface="Poppins"/>
              </a:rPr>
              <a:t>WHALE CLIENT MARGIN POLICY</a:t>
            </a:r>
            <a:endParaRPr/>
          </a:p>
        </p:txBody>
      </p:sp>
      <p:sp>
        <p:nvSpPr>
          <p:cNvPr id="126" name="Google Shape;126;p16"/>
          <p:cNvSpPr/>
          <p:nvPr/>
        </p:nvSpPr>
        <p:spPr>
          <a:xfrm>
            <a:off x="571500" y="571500"/>
            <a:ext cx="95400" cy="6000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 txBox="1"/>
          <p:nvPr/>
        </p:nvSpPr>
        <p:spPr>
          <a:xfrm>
            <a:off x="857250" y="3981450"/>
            <a:ext cx="110013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4185"/>
                </a:solidFill>
                <a:latin typeface="Poppins"/>
                <a:ea typeface="Poppins"/>
                <a:cs typeface="Poppins"/>
                <a:sym typeface="Poppins"/>
              </a:rPr>
              <a:t>"5 Golden Days" Privilege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857250" y="4467225"/>
            <a:ext cx="104775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0% Interest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for the first 5 days of disbursement. Effective until June 25, 2026.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7"/>
          <p:cNvSpPr txBox="1"/>
          <p:nvPr/>
        </p:nvSpPr>
        <p:spPr>
          <a:xfrm>
            <a:off x="762000" y="571500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4185"/>
                </a:solidFill>
                <a:latin typeface="Poppins"/>
                <a:ea typeface="Poppins"/>
                <a:cs typeface="Poppins"/>
                <a:sym typeface="Poppins"/>
              </a:rPr>
              <a:t>BROKERAGE &amp; CAPITAL SUPPORT</a:t>
            </a:r>
            <a:endParaRPr/>
          </a:p>
        </p:txBody>
      </p:sp>
      <p:sp>
        <p:nvSpPr>
          <p:cNvPr id="134" name="Google Shape;134;p17"/>
          <p:cNvSpPr/>
          <p:nvPr/>
        </p:nvSpPr>
        <p:spPr>
          <a:xfrm>
            <a:off x="571500" y="571500"/>
            <a:ext cx="95400" cy="6000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7"/>
          <p:cNvSpPr txBox="1"/>
          <p:nvPr/>
        </p:nvSpPr>
        <p:spPr>
          <a:xfrm>
            <a:off x="571500" y="1552575"/>
            <a:ext cx="5600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4185"/>
                </a:solidFill>
                <a:latin typeface="Poppins"/>
                <a:ea typeface="Poppins"/>
                <a:cs typeface="Poppins"/>
                <a:sym typeface="Poppins"/>
              </a:rPr>
              <a:t>Securities Brokerage</a:t>
            </a:r>
            <a:endParaRPr sz="2400"/>
          </a:p>
        </p:txBody>
      </p:sp>
      <p:sp>
        <p:nvSpPr>
          <p:cNvPr id="136" name="Google Shape;136;p17"/>
          <p:cNvSpPr txBox="1"/>
          <p:nvPr/>
        </p:nvSpPr>
        <p:spPr>
          <a:xfrm>
            <a:off x="6286500" y="1552575"/>
            <a:ext cx="5600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4185"/>
                </a:solidFill>
                <a:latin typeface="Poppins"/>
                <a:ea typeface="Poppins"/>
                <a:cs typeface="Poppins"/>
                <a:sym typeface="Poppins"/>
              </a:rPr>
              <a:t>Capital Support</a:t>
            </a:r>
            <a:endParaRPr sz="2400"/>
          </a:p>
        </p:txBody>
      </p:sp>
      <p:sp>
        <p:nvSpPr>
          <p:cNvPr id="137" name="Google Shape;137;p17"/>
          <p:cNvSpPr txBox="1"/>
          <p:nvPr/>
        </p:nvSpPr>
        <p:spPr>
          <a:xfrm>
            <a:off x="1020000" y="2505075"/>
            <a:ext cx="50007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1:1 Advisory Team:</a:t>
            </a:r>
            <a:r>
              <a:rPr lang="en-US" sz="2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Personalized strategies tailored to your financial goals.</a:t>
            </a:r>
            <a:endParaRPr sz="2800"/>
          </a:p>
        </p:txBody>
      </p:sp>
      <p:sp>
        <p:nvSpPr>
          <p:cNvPr id="138" name="Google Shape;138;p17"/>
          <p:cNvSpPr txBox="1"/>
          <p:nvPr/>
        </p:nvSpPr>
        <p:spPr>
          <a:xfrm>
            <a:off x="908875" y="4330700"/>
            <a:ext cx="5000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In-depth Analysis:</a:t>
            </a:r>
            <a:r>
              <a:rPr lang="en-US" sz="2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Daily macro, corporate, and bond-themed reports.</a:t>
            </a:r>
            <a:endParaRPr sz="2400"/>
          </a:p>
        </p:txBody>
      </p:sp>
      <p:sp>
        <p:nvSpPr>
          <p:cNvPr id="139" name="Google Shape;139;p17"/>
          <p:cNvSpPr txBox="1"/>
          <p:nvPr/>
        </p:nvSpPr>
        <p:spPr>
          <a:xfrm>
            <a:off x="6735000" y="2505075"/>
            <a:ext cx="5000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Margin Trading:</a:t>
            </a:r>
            <a:r>
              <a:rPr lang="en-US" sz="2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Competitive rates and a flexible list of top-tier stocks.</a:t>
            </a:r>
            <a:endParaRPr sz="2400"/>
          </a:p>
        </p:txBody>
      </p:sp>
      <p:sp>
        <p:nvSpPr>
          <p:cNvPr id="140" name="Google Shape;140;p17"/>
          <p:cNvSpPr txBox="1"/>
          <p:nvPr/>
        </p:nvSpPr>
        <p:spPr>
          <a:xfrm>
            <a:off x="6623875" y="4330700"/>
            <a:ext cx="50007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Cash Advance:</a:t>
            </a:r>
            <a:r>
              <a:rPr lang="en-US" sz="2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Receive funds instantly after order matching to capture new opportunities.</a:t>
            </a:r>
            <a:endParaRPr sz="2400"/>
          </a:p>
        </p:txBody>
      </p:sp>
      <p:pic>
        <p:nvPicPr>
          <p:cNvPr id="141" name="Google Shape;14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6000" y="2547918"/>
            <a:ext cx="262075" cy="3057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6300" y="4373540"/>
            <a:ext cx="262075" cy="36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0050" y="2547917"/>
            <a:ext cx="262075" cy="2751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18925" y="4373548"/>
            <a:ext cx="262075" cy="2751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552575"/>
            <a:ext cx="3603829" cy="28324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70213" y="1552575"/>
            <a:ext cx="3603982" cy="28324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69081" y="1552575"/>
            <a:ext cx="3603829" cy="2832414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8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4185"/>
                </a:solidFill>
                <a:latin typeface="Poppins"/>
                <a:ea typeface="Poppins"/>
                <a:cs typeface="Poppins"/>
                <a:sym typeface="Poppins"/>
              </a:rPr>
              <a:t>CORE VALUES &amp; COMMITMENTS</a:t>
            </a:r>
            <a:endParaRPr/>
          </a:p>
        </p:txBody>
      </p:sp>
      <p:sp>
        <p:nvSpPr>
          <p:cNvPr id="153" name="Google Shape;153;p18"/>
          <p:cNvSpPr/>
          <p:nvPr/>
        </p:nvSpPr>
        <p:spPr>
          <a:xfrm>
            <a:off x="571500" y="571500"/>
            <a:ext cx="95250" cy="600075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8"/>
          <p:cNvSpPr txBox="1"/>
          <p:nvPr/>
        </p:nvSpPr>
        <p:spPr>
          <a:xfrm>
            <a:off x="571500" y="6203950"/>
            <a:ext cx="11049000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1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"Prestige and professionalism are the prerequisites." </a:t>
            </a:r>
            <a:endParaRPr/>
          </a:p>
        </p:txBody>
      </p:sp>
      <p:pic>
        <p:nvPicPr>
          <p:cNvPr id="155" name="Google Shape;155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6368" y="1896587"/>
            <a:ext cx="442301" cy="442301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8"/>
          <p:cNvSpPr txBox="1"/>
          <p:nvPr/>
        </p:nvSpPr>
        <p:spPr>
          <a:xfrm>
            <a:off x="866368" y="2535466"/>
            <a:ext cx="3164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4185"/>
                </a:solidFill>
                <a:latin typeface="Poppins"/>
                <a:ea typeface="Poppins"/>
                <a:cs typeface="Poppins"/>
                <a:sym typeface="Poppins"/>
              </a:rPr>
              <a:t>Safety</a:t>
            </a:r>
            <a:endParaRPr sz="2400"/>
          </a:p>
        </p:txBody>
      </p:sp>
      <p:sp>
        <p:nvSpPr>
          <p:cNvPr id="157" name="Google Shape;157;p18"/>
          <p:cNvSpPr txBox="1"/>
          <p:nvPr/>
        </p:nvSpPr>
        <p:spPr>
          <a:xfrm>
            <a:off x="866368" y="3007253"/>
            <a:ext cx="3014100" cy="27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Independent management of client and company assets, ensuring absolute transparency.</a:t>
            </a:r>
            <a:endParaRPr sz="2400"/>
          </a:p>
        </p:txBody>
      </p:sp>
      <p:pic>
        <p:nvPicPr>
          <p:cNvPr id="158" name="Google Shape;158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65081" y="1896587"/>
            <a:ext cx="383329" cy="442301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8"/>
          <p:cNvSpPr txBox="1"/>
          <p:nvPr/>
        </p:nvSpPr>
        <p:spPr>
          <a:xfrm>
            <a:off x="4765081" y="2535466"/>
            <a:ext cx="3165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4185"/>
                </a:solidFill>
                <a:latin typeface="Poppins"/>
                <a:ea typeface="Poppins"/>
                <a:cs typeface="Poppins"/>
                <a:sym typeface="Poppins"/>
              </a:rPr>
              <a:t>Security</a:t>
            </a:r>
            <a:endParaRPr sz="2400"/>
          </a:p>
        </p:txBody>
      </p:sp>
      <p:sp>
        <p:nvSpPr>
          <p:cNvPr id="160" name="Google Shape;160;p18"/>
          <p:cNvSpPr txBox="1"/>
          <p:nvPr/>
        </p:nvSpPr>
        <p:spPr>
          <a:xfrm>
            <a:off x="4765081" y="3007253"/>
            <a:ext cx="3014400" cy="27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Modern technology systems meeting the highest security standards in the market.</a:t>
            </a:r>
            <a:endParaRPr sz="2400"/>
          </a:p>
        </p:txBody>
      </p:sp>
      <p:pic>
        <p:nvPicPr>
          <p:cNvPr id="161" name="Google Shape;161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663949" y="1896587"/>
            <a:ext cx="383329" cy="442301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/>
          <p:cNvSpPr txBox="1"/>
          <p:nvPr/>
        </p:nvSpPr>
        <p:spPr>
          <a:xfrm>
            <a:off x="8663949" y="2535466"/>
            <a:ext cx="3164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4185"/>
                </a:solidFill>
                <a:latin typeface="Poppins"/>
                <a:ea typeface="Poppins"/>
                <a:cs typeface="Poppins"/>
                <a:sym typeface="Poppins"/>
              </a:rPr>
              <a:t>Convenience</a:t>
            </a:r>
            <a:endParaRPr sz="2400"/>
          </a:p>
        </p:txBody>
      </p:sp>
      <p:sp>
        <p:nvSpPr>
          <p:cNvPr id="163" name="Google Shape;163;p18"/>
          <p:cNvSpPr txBox="1"/>
          <p:nvPr/>
        </p:nvSpPr>
        <p:spPr>
          <a:xfrm>
            <a:off x="8663949" y="3007253"/>
            <a:ext cx="3014100" cy="27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Trade and manage assets anytime, anywhere through a comprehensive digital ecosystem.</a:t>
            </a:r>
            <a:endParaRPr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5474245"/>
            <a:ext cx="11049000" cy="8609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52575"/>
            <a:ext cx="5334000" cy="22706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1552575"/>
            <a:ext cx="5334000" cy="227067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9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4185"/>
                </a:solidFill>
                <a:latin typeface="Poppins"/>
                <a:ea typeface="Poppins"/>
                <a:cs typeface="Poppins"/>
                <a:sym typeface="Poppins"/>
              </a:rPr>
              <a:t>OPEN-ENDED FUND SERVICES</a:t>
            </a:r>
            <a:endParaRPr/>
          </a:p>
        </p:txBody>
      </p:sp>
      <p:sp>
        <p:nvSpPr>
          <p:cNvPr id="172" name="Google Shape;172;p19"/>
          <p:cNvSpPr/>
          <p:nvPr/>
        </p:nvSpPr>
        <p:spPr>
          <a:xfrm>
            <a:off x="571500" y="571500"/>
            <a:ext cx="95250" cy="600075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 txBox="1"/>
          <p:nvPr/>
        </p:nvSpPr>
        <p:spPr>
          <a:xfrm>
            <a:off x="904875" y="5759995"/>
            <a:ext cx="10429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Suitable for clients who seek methodical investment but have limited time to track the market.</a:t>
            </a:r>
            <a:endParaRPr sz="2000"/>
          </a:p>
        </p:txBody>
      </p:sp>
      <p:sp>
        <p:nvSpPr>
          <p:cNvPr id="174" name="Google Shape;174;p19"/>
          <p:cNvSpPr txBox="1"/>
          <p:nvPr/>
        </p:nvSpPr>
        <p:spPr>
          <a:xfrm>
            <a:off x="857250" y="1885950"/>
            <a:ext cx="5000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4185"/>
                </a:solidFill>
                <a:latin typeface="Poppins"/>
                <a:ea typeface="Poppins"/>
                <a:cs typeface="Poppins"/>
                <a:sym typeface="Poppins"/>
              </a:rPr>
              <a:t>Internal Fund</a:t>
            </a:r>
            <a:endParaRPr sz="2400"/>
          </a:p>
        </p:txBody>
      </p:sp>
      <p:sp>
        <p:nvSpPr>
          <p:cNvPr id="175" name="Google Shape;175;p19"/>
          <p:cNvSpPr txBox="1"/>
          <p:nvPr/>
        </p:nvSpPr>
        <p:spPr>
          <a:xfrm>
            <a:off x="857250" y="2343150"/>
            <a:ext cx="5157900" cy="21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BVFED Fund:</a:t>
            </a:r>
            <a:r>
              <a:rPr lang="en-US" sz="24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Focuses on potential stock portfolios, managed by BVSC's experts to provide superior long-term returns.</a:t>
            </a:r>
            <a:endParaRPr sz="2400"/>
          </a:p>
        </p:txBody>
      </p:sp>
      <p:sp>
        <p:nvSpPr>
          <p:cNvPr id="176" name="Google Shape;176;p19"/>
          <p:cNvSpPr txBox="1"/>
          <p:nvPr/>
        </p:nvSpPr>
        <p:spPr>
          <a:xfrm>
            <a:off x="6572250" y="1885950"/>
            <a:ext cx="5000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4185"/>
                </a:solidFill>
                <a:latin typeface="Poppins"/>
                <a:ea typeface="Poppins"/>
                <a:cs typeface="Poppins"/>
                <a:sym typeface="Poppins"/>
              </a:rPr>
              <a:t>Partner Funds</a:t>
            </a:r>
            <a:endParaRPr sz="2400"/>
          </a:p>
        </p:txBody>
      </p:sp>
      <p:sp>
        <p:nvSpPr>
          <p:cNvPr id="177" name="Google Shape;177;p19"/>
          <p:cNvSpPr txBox="1"/>
          <p:nvPr/>
        </p:nvSpPr>
        <p:spPr>
          <a:xfrm>
            <a:off x="6572250" y="2343150"/>
            <a:ext cx="47625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Collaborating with leading fund management units:</a:t>
            </a:r>
            <a:endParaRPr sz="2400"/>
          </a:p>
        </p:txBody>
      </p:sp>
      <p:sp>
        <p:nvSpPr>
          <p:cNvPr id="178" name="Google Shape;178;p19"/>
          <p:cNvSpPr txBox="1"/>
          <p:nvPr/>
        </p:nvSpPr>
        <p:spPr>
          <a:xfrm>
            <a:off x="6752547" y="3597795"/>
            <a:ext cx="44292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Dragon Capital: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b="0" i="0" u="none" strike="noStrike" cap="none" dirty="0" smtClean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VFMVF1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, VFMVF4, VFMVFA</a:t>
            </a:r>
            <a:endParaRPr sz="2400" dirty="0"/>
          </a:p>
        </p:txBody>
      </p:sp>
      <p:sp>
        <p:nvSpPr>
          <p:cNvPr id="179" name="Google Shape;179;p19"/>
          <p:cNvSpPr txBox="1"/>
          <p:nvPr/>
        </p:nvSpPr>
        <p:spPr>
          <a:xfrm>
            <a:off x="6752547" y="4576454"/>
            <a:ext cx="44292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Dai-</a:t>
            </a:r>
            <a:r>
              <a:rPr lang="en-US" sz="2400" b="1" i="0" u="none" strike="noStrike" cap="none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ichi</a:t>
            </a:r>
            <a:r>
              <a:rPr lang="en-US" sz="2400" b="1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Life: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b="0" i="0" u="none" strike="noStrike" cap="none" dirty="0" smtClean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DFVN 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CAF, DFVN FIX</a:t>
            </a:r>
            <a:endParaRPr sz="2400" dirty="0"/>
          </a:p>
        </p:txBody>
      </p:sp>
      <p:pic>
        <p:nvPicPr>
          <p:cNvPr id="180" name="Google Shape;180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90622" y="3600532"/>
            <a:ext cx="371475" cy="44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90622" y="4480067"/>
            <a:ext cx="371475" cy="44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552575"/>
            <a:ext cx="5334000" cy="3525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552575"/>
            <a:ext cx="5334000" cy="3525887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4185"/>
                </a:solidFill>
                <a:latin typeface="Poppins"/>
                <a:ea typeface="Poppins"/>
                <a:cs typeface="Poppins"/>
                <a:sym typeface="Poppins"/>
              </a:rPr>
              <a:t>DIGITAL ECOSYSTEM</a:t>
            </a:r>
            <a:endParaRPr/>
          </a:p>
        </p:txBody>
      </p:sp>
      <p:sp>
        <p:nvSpPr>
          <p:cNvPr id="189" name="Google Shape;189;p20"/>
          <p:cNvSpPr/>
          <p:nvPr/>
        </p:nvSpPr>
        <p:spPr>
          <a:xfrm>
            <a:off x="571500" y="571500"/>
            <a:ext cx="95250" cy="600075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857250" y="1885950"/>
            <a:ext cx="5000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4185"/>
                </a:solidFill>
                <a:latin typeface="Poppins"/>
                <a:ea typeface="Poppins"/>
                <a:cs typeface="Poppins"/>
                <a:sym typeface="Poppins"/>
              </a:rPr>
              <a:t>BVSC Invest (Mobile App)</a:t>
            </a:r>
            <a:endParaRPr sz="2400"/>
          </a:p>
        </p:txBody>
      </p:sp>
      <p:sp>
        <p:nvSpPr>
          <p:cNvPr id="191" name="Google Shape;191;p20"/>
          <p:cNvSpPr txBox="1"/>
          <p:nvPr/>
        </p:nvSpPr>
        <p:spPr>
          <a:xfrm>
            <a:off x="857250" y="2343150"/>
            <a:ext cx="47625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Intuitive interface, fast execution, and 24/7 portfolio management.</a:t>
            </a:r>
            <a:endParaRPr sz="2400"/>
          </a:p>
        </p:txBody>
      </p:sp>
      <p:sp>
        <p:nvSpPr>
          <p:cNvPr id="192" name="Google Shape;192;p20"/>
          <p:cNvSpPr txBox="1"/>
          <p:nvPr/>
        </p:nvSpPr>
        <p:spPr>
          <a:xfrm>
            <a:off x="738150" y="4234366"/>
            <a:ext cx="5000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4185"/>
                </a:solidFill>
                <a:latin typeface="Poppins"/>
                <a:ea typeface="Poppins"/>
                <a:cs typeface="Poppins"/>
                <a:sym typeface="Poppins"/>
              </a:rPr>
              <a:t>BWise (Web Trading)</a:t>
            </a:r>
            <a:endParaRPr sz="2400"/>
          </a:p>
        </p:txBody>
      </p:sp>
      <p:sp>
        <p:nvSpPr>
          <p:cNvPr id="193" name="Google Shape;193;p20"/>
          <p:cNvSpPr txBox="1"/>
          <p:nvPr/>
        </p:nvSpPr>
        <p:spPr>
          <a:xfrm>
            <a:off x="738150" y="4691566"/>
            <a:ext cx="4762500" cy="15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Advanced platform with professional technical analysis tools.</a:t>
            </a:r>
            <a:endParaRPr sz="2400"/>
          </a:p>
        </p:txBody>
      </p:sp>
      <p:sp>
        <p:nvSpPr>
          <p:cNvPr id="194" name="Google Shape;194;p20"/>
          <p:cNvSpPr txBox="1"/>
          <p:nvPr/>
        </p:nvSpPr>
        <p:spPr>
          <a:xfrm>
            <a:off x="6453187" y="1885950"/>
            <a:ext cx="5000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4185"/>
                </a:solidFill>
                <a:latin typeface="Poppins"/>
                <a:ea typeface="Poppins"/>
                <a:cs typeface="Poppins"/>
                <a:sym typeface="Poppins"/>
              </a:rPr>
              <a:t>Quick eKYC</a:t>
            </a:r>
            <a:endParaRPr sz="2400"/>
          </a:p>
        </p:txBody>
      </p:sp>
      <p:sp>
        <p:nvSpPr>
          <p:cNvPr id="195" name="Google Shape;195;p20"/>
          <p:cNvSpPr txBox="1"/>
          <p:nvPr/>
        </p:nvSpPr>
        <p:spPr>
          <a:xfrm>
            <a:off x="6572250" y="2343150"/>
            <a:ext cx="4762500" cy="15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Open an account online and start trading immediately on the same day.</a:t>
            </a:r>
            <a:endParaRPr sz="2400"/>
          </a:p>
        </p:txBody>
      </p:sp>
      <p:sp>
        <p:nvSpPr>
          <p:cNvPr id="196" name="Google Shape;196;p20"/>
          <p:cNvSpPr txBox="1"/>
          <p:nvPr/>
        </p:nvSpPr>
        <p:spPr>
          <a:xfrm>
            <a:off x="6453187" y="4234366"/>
            <a:ext cx="5000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B800"/>
                </a:solidFill>
                <a:latin typeface="Poppins"/>
                <a:ea typeface="Poppins"/>
                <a:cs typeface="Poppins"/>
                <a:sym typeface="Poppins"/>
              </a:rPr>
              <a:t>BVS@LiveBoard</a:t>
            </a:r>
            <a:endParaRPr sz="2400"/>
          </a:p>
        </p:txBody>
      </p:sp>
      <p:sp>
        <p:nvSpPr>
          <p:cNvPr id="197" name="Google Shape;197;p20"/>
          <p:cNvSpPr txBox="1"/>
          <p:nvPr/>
        </p:nvSpPr>
        <p:spPr>
          <a:xfrm>
            <a:off x="6572250" y="4691566"/>
            <a:ext cx="47625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High-speed, real-time market data updates.</a:t>
            </a:r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552575"/>
            <a:ext cx="5334000" cy="18362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552575"/>
            <a:ext cx="5334000" cy="18362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769816"/>
            <a:ext cx="5334000" cy="18362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0" y="3769816"/>
            <a:ext cx="5334000" cy="1836241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4185"/>
                </a:solidFill>
                <a:latin typeface="Poppins"/>
                <a:ea typeface="Poppins"/>
                <a:cs typeface="Poppins"/>
                <a:sym typeface="Poppins"/>
              </a:rPr>
              <a:t>INSTITUTIONAL SERVICES</a:t>
            </a:r>
            <a:endParaRPr/>
          </a:p>
        </p:txBody>
      </p:sp>
      <p:sp>
        <p:nvSpPr>
          <p:cNvPr id="207" name="Google Shape;207;p21"/>
          <p:cNvSpPr/>
          <p:nvPr/>
        </p:nvSpPr>
        <p:spPr>
          <a:xfrm>
            <a:off x="571500" y="571500"/>
            <a:ext cx="95250" cy="600075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857250" y="1885950"/>
            <a:ext cx="5000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004185"/>
                </a:solidFill>
                <a:latin typeface="Poppins"/>
                <a:ea typeface="Poppins"/>
                <a:cs typeface="Poppins"/>
                <a:sym typeface="Poppins"/>
              </a:rPr>
              <a:t>Brokerage &amp; Execution</a:t>
            </a:r>
            <a:endParaRPr sz="2000"/>
          </a:p>
        </p:txBody>
      </p:sp>
      <p:sp>
        <p:nvSpPr>
          <p:cNvPr id="209" name="Google Shape;209;p21"/>
          <p:cNvSpPr txBox="1"/>
          <p:nvPr/>
        </p:nvSpPr>
        <p:spPr>
          <a:xfrm>
            <a:off x="857250" y="2343150"/>
            <a:ext cx="47625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Fast processing of block trades, effectively minimizing price impact.</a:t>
            </a:r>
            <a:endParaRPr sz="2000"/>
          </a:p>
        </p:txBody>
      </p:sp>
      <p:sp>
        <p:nvSpPr>
          <p:cNvPr id="210" name="Google Shape;210;p21"/>
          <p:cNvSpPr txBox="1"/>
          <p:nvPr/>
        </p:nvSpPr>
        <p:spPr>
          <a:xfrm>
            <a:off x="6572250" y="1885950"/>
            <a:ext cx="5000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004185"/>
                </a:solidFill>
                <a:latin typeface="Poppins"/>
                <a:ea typeface="Poppins"/>
                <a:cs typeface="Poppins"/>
                <a:sym typeface="Poppins"/>
              </a:rPr>
              <a:t>Investment Networking</a:t>
            </a:r>
            <a:endParaRPr sz="2000"/>
          </a:p>
        </p:txBody>
      </p:sp>
      <p:sp>
        <p:nvSpPr>
          <p:cNvPr id="211" name="Google Shape;211;p21"/>
          <p:cNvSpPr txBox="1"/>
          <p:nvPr/>
        </p:nvSpPr>
        <p:spPr>
          <a:xfrm>
            <a:off x="6572250" y="2343150"/>
            <a:ext cx="47625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Organizing site visits and meetings with senior management for funds.</a:t>
            </a:r>
            <a:endParaRPr sz="2000"/>
          </a:p>
        </p:txBody>
      </p:sp>
      <p:sp>
        <p:nvSpPr>
          <p:cNvPr id="212" name="Google Shape;212;p21"/>
          <p:cNvSpPr txBox="1"/>
          <p:nvPr/>
        </p:nvSpPr>
        <p:spPr>
          <a:xfrm>
            <a:off x="857250" y="4103191"/>
            <a:ext cx="5000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004185"/>
                </a:solidFill>
                <a:latin typeface="Poppins"/>
                <a:ea typeface="Poppins"/>
                <a:cs typeface="Poppins"/>
                <a:sym typeface="Poppins"/>
              </a:rPr>
              <a:t>Deep Analysis</a:t>
            </a:r>
            <a:endParaRPr sz="2000"/>
          </a:p>
        </p:txBody>
      </p:sp>
      <p:sp>
        <p:nvSpPr>
          <p:cNvPr id="213" name="Google Shape;213;p21"/>
          <p:cNvSpPr txBox="1"/>
          <p:nvPr/>
        </p:nvSpPr>
        <p:spPr>
          <a:xfrm>
            <a:off x="857250" y="4560391"/>
            <a:ext cx="47625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Macro and corporate reports focused on ESG and long-term growth.</a:t>
            </a:r>
            <a:endParaRPr sz="2000"/>
          </a:p>
        </p:txBody>
      </p:sp>
      <p:sp>
        <p:nvSpPr>
          <p:cNvPr id="214" name="Google Shape;214;p21"/>
          <p:cNvSpPr txBox="1"/>
          <p:nvPr/>
        </p:nvSpPr>
        <p:spPr>
          <a:xfrm>
            <a:off x="6572250" y="4103191"/>
            <a:ext cx="5000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004185"/>
                </a:solidFill>
                <a:latin typeface="Poppins"/>
                <a:ea typeface="Poppins"/>
                <a:cs typeface="Poppins"/>
                <a:sym typeface="Poppins"/>
              </a:rPr>
              <a:t>NPF Services</a:t>
            </a:r>
            <a:endParaRPr sz="2000"/>
          </a:p>
        </p:txBody>
      </p:sp>
      <p:sp>
        <p:nvSpPr>
          <p:cNvPr id="215" name="Google Shape;215;p21"/>
          <p:cNvSpPr txBox="1"/>
          <p:nvPr/>
        </p:nvSpPr>
        <p:spPr>
          <a:xfrm>
            <a:off x="6572250" y="4560391"/>
            <a:ext cx="47625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Professional capital management for non-profit organizations.</a:t>
            </a:r>
            <a:endParaRPr sz="2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5141416"/>
            <a:ext cx="11049000" cy="963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52575"/>
            <a:ext cx="3492400" cy="18362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1552575"/>
            <a:ext cx="3492549" cy="18362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7950" y="1552575"/>
            <a:ext cx="3492400" cy="1836241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2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4185"/>
                </a:solidFill>
                <a:latin typeface="Poppins"/>
                <a:ea typeface="Poppins"/>
                <a:cs typeface="Poppins"/>
                <a:sym typeface="Poppins"/>
              </a:rPr>
              <a:t>INVESTMENT BANKING (IB)</a:t>
            </a:r>
            <a:endParaRPr/>
          </a:p>
        </p:txBody>
      </p:sp>
      <p:sp>
        <p:nvSpPr>
          <p:cNvPr id="225" name="Google Shape;225;p22"/>
          <p:cNvSpPr/>
          <p:nvPr/>
        </p:nvSpPr>
        <p:spPr>
          <a:xfrm>
            <a:off x="571500" y="571500"/>
            <a:ext cx="95250" cy="600075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2"/>
          <p:cNvSpPr txBox="1"/>
          <p:nvPr/>
        </p:nvSpPr>
        <p:spPr>
          <a:xfrm>
            <a:off x="762000" y="5455741"/>
            <a:ext cx="104205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Strength: Inheriting the prestige of Bao Viet Group - A guarantee for deal success.</a:t>
            </a:r>
            <a:endParaRPr/>
          </a:p>
        </p:txBody>
      </p:sp>
      <p:sp>
        <p:nvSpPr>
          <p:cNvPr id="227" name="Google Shape;227;p22"/>
          <p:cNvSpPr txBox="1"/>
          <p:nvPr/>
        </p:nvSpPr>
        <p:spPr>
          <a:xfrm>
            <a:off x="857250" y="1885950"/>
            <a:ext cx="30669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4185"/>
                </a:solidFill>
                <a:latin typeface="Poppins"/>
                <a:ea typeface="Poppins"/>
                <a:cs typeface="Poppins"/>
                <a:sym typeface="Poppins"/>
              </a:rPr>
              <a:t>ECM / Capital Markets</a:t>
            </a:r>
            <a:endParaRPr sz="2400"/>
          </a:p>
        </p:txBody>
      </p:sp>
      <p:sp>
        <p:nvSpPr>
          <p:cNvPr id="228" name="Google Shape;228;p22"/>
          <p:cNvSpPr txBox="1"/>
          <p:nvPr/>
        </p:nvSpPr>
        <p:spPr>
          <a:xfrm>
            <a:off x="857350" y="2997050"/>
            <a:ext cx="2920800" cy="15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IPO Advisory, Private Placements, and Share Auctions.</a:t>
            </a:r>
            <a:endParaRPr sz="2400"/>
          </a:p>
        </p:txBody>
      </p:sp>
      <p:sp>
        <p:nvSpPr>
          <p:cNvPr id="229" name="Google Shape;229;p22"/>
          <p:cNvSpPr txBox="1"/>
          <p:nvPr/>
        </p:nvSpPr>
        <p:spPr>
          <a:xfrm>
            <a:off x="4635400" y="1885950"/>
            <a:ext cx="30672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4185"/>
                </a:solidFill>
                <a:latin typeface="Poppins"/>
                <a:ea typeface="Poppins"/>
                <a:cs typeface="Poppins"/>
                <a:sym typeface="Poppins"/>
              </a:rPr>
              <a:t>DCM / Debt Markets</a:t>
            </a:r>
            <a:endParaRPr sz="2400"/>
          </a:p>
        </p:txBody>
      </p:sp>
      <p:sp>
        <p:nvSpPr>
          <p:cNvPr id="230" name="Google Shape;230;p22"/>
          <p:cNvSpPr txBox="1"/>
          <p:nvPr/>
        </p:nvSpPr>
        <p:spPr>
          <a:xfrm>
            <a:off x="4635375" y="2997050"/>
            <a:ext cx="2921100" cy="15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Corporate Bond Issuance and Loan Structuring.</a:t>
            </a:r>
            <a:endParaRPr sz="2400"/>
          </a:p>
        </p:txBody>
      </p:sp>
      <p:sp>
        <p:nvSpPr>
          <p:cNvPr id="231" name="Google Shape;231;p22"/>
          <p:cNvSpPr txBox="1"/>
          <p:nvPr/>
        </p:nvSpPr>
        <p:spPr>
          <a:xfrm>
            <a:off x="8413700" y="1885950"/>
            <a:ext cx="3066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4185"/>
                </a:solidFill>
                <a:latin typeface="Poppins"/>
                <a:ea typeface="Poppins"/>
                <a:cs typeface="Poppins"/>
                <a:sym typeface="Poppins"/>
              </a:rPr>
              <a:t>M&amp;A</a:t>
            </a:r>
            <a:endParaRPr sz="2400"/>
          </a:p>
        </p:txBody>
      </p:sp>
      <p:sp>
        <p:nvSpPr>
          <p:cNvPr id="232" name="Google Shape;232;p22"/>
          <p:cNvSpPr txBox="1"/>
          <p:nvPr/>
        </p:nvSpPr>
        <p:spPr>
          <a:xfrm>
            <a:off x="8333975" y="2922825"/>
            <a:ext cx="2920800" cy="15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Strategic Partner Search and Due Diligence.</a:t>
            </a:r>
            <a:endParaRPr sz="2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3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4185"/>
                </a:solidFill>
                <a:latin typeface="Poppins"/>
                <a:ea typeface="Poppins"/>
                <a:cs typeface="Poppins"/>
                <a:sym typeface="Poppins"/>
              </a:rPr>
              <a:t>TRACK RECORD</a:t>
            </a:r>
            <a:endParaRPr/>
          </a:p>
        </p:txBody>
      </p:sp>
      <p:sp>
        <p:nvSpPr>
          <p:cNvPr id="238" name="Google Shape;238;p23"/>
          <p:cNvSpPr/>
          <p:nvPr/>
        </p:nvSpPr>
        <p:spPr>
          <a:xfrm>
            <a:off x="571500" y="571500"/>
            <a:ext cx="95250" cy="600075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9" name="Google Shape;239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7250" y="1885950"/>
            <a:ext cx="48577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3"/>
          <p:cNvSpPr txBox="1"/>
          <p:nvPr/>
        </p:nvSpPr>
        <p:spPr>
          <a:xfrm>
            <a:off x="1504875" y="1885950"/>
            <a:ext cx="4086300" cy="15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Top M&amp;A Advisory:</a:t>
            </a:r>
            <a:r>
              <a:rPr lang="en-US" sz="24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Recognized for excellence in 2024-2025.</a:t>
            </a:r>
            <a:endParaRPr sz="2400"/>
          </a:p>
        </p:txBody>
      </p:sp>
      <p:pic>
        <p:nvPicPr>
          <p:cNvPr id="241" name="Google Shape;241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72250" y="1885950"/>
            <a:ext cx="323850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3"/>
          <p:cNvSpPr txBox="1"/>
          <p:nvPr/>
        </p:nvSpPr>
        <p:spPr>
          <a:xfrm>
            <a:off x="7105650" y="1885950"/>
            <a:ext cx="4248300" cy="15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Top 10 HNX Governance:</a:t>
            </a:r>
            <a:r>
              <a:rPr lang="en-US" sz="24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Leading enterprise in Corporate Governance.</a:t>
            </a:r>
            <a:endParaRPr sz="2400"/>
          </a:p>
        </p:txBody>
      </p:sp>
      <p:pic>
        <p:nvPicPr>
          <p:cNvPr id="243" name="Google Shape;243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7250" y="3826966"/>
            <a:ext cx="4286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3"/>
          <p:cNvSpPr txBox="1"/>
          <p:nvPr/>
        </p:nvSpPr>
        <p:spPr>
          <a:xfrm>
            <a:off x="1476375" y="3912266"/>
            <a:ext cx="4143300" cy="1772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Sustainable Enterprise:</a:t>
            </a:r>
            <a:r>
              <a:rPr lang="en-US" sz="24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lang="en-US" sz="2400" b="0" i="0" u="none" strike="noStrike" cap="none" dirty="0" smtClean="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 smtClean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8 </a:t>
            </a:r>
            <a:r>
              <a:rPr lang="en-US" sz="24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consecutive years in CSI Top 100.</a:t>
            </a:r>
            <a:endParaRPr sz="2400" dirty="0"/>
          </a:p>
        </p:txBody>
      </p:sp>
      <p:pic>
        <p:nvPicPr>
          <p:cNvPr id="245" name="Google Shape;245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72250" y="3826966"/>
            <a:ext cx="533400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3"/>
          <p:cNvSpPr txBox="1"/>
          <p:nvPr/>
        </p:nvSpPr>
        <p:spPr>
          <a:xfrm>
            <a:off x="7315350" y="3912266"/>
            <a:ext cx="40386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Major Clients:</a:t>
            </a:r>
            <a:r>
              <a:rPr lang="en-US" sz="24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SABECO, GELEX, HDBank, and more.</a:t>
            </a:r>
            <a:endParaRPr sz="2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4"/>
          <p:cNvSpPr txBox="1"/>
          <p:nvPr/>
        </p:nvSpPr>
        <p:spPr>
          <a:xfrm>
            <a:off x="3870721" y="2129879"/>
            <a:ext cx="44505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004185"/>
                </a:solidFill>
                <a:latin typeface="Poppins"/>
                <a:ea typeface="Poppins"/>
                <a:cs typeface="Poppins"/>
                <a:sym typeface="Poppins"/>
              </a:rPr>
              <a:t>Partner With Us</a:t>
            </a:r>
            <a:endParaRPr/>
          </a:p>
        </p:txBody>
      </p:sp>
      <p:sp>
        <p:nvSpPr>
          <p:cNvPr id="252" name="Google Shape;252;p24"/>
          <p:cNvSpPr txBox="1"/>
          <p:nvPr/>
        </p:nvSpPr>
        <p:spPr>
          <a:xfrm>
            <a:off x="2286000" y="2939504"/>
            <a:ext cx="7620000" cy="7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Experience a professional financial environment with expert guidance across all channels.</a:t>
            </a:r>
            <a:endParaRPr/>
          </a:p>
        </p:txBody>
      </p:sp>
      <p:sp>
        <p:nvSpPr>
          <p:cNvPr id="253" name="Google Shape;253;p24"/>
          <p:cNvSpPr txBox="1"/>
          <p:nvPr/>
        </p:nvSpPr>
        <p:spPr>
          <a:xfrm>
            <a:off x="4257675" y="5446365"/>
            <a:ext cx="36768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© 2026 Bao Viet Securities Joint Stock Company (BVSC)</a:t>
            </a:r>
            <a:endParaRPr/>
          </a:p>
        </p:txBody>
      </p:sp>
      <p:pic>
        <p:nvPicPr>
          <p:cNvPr id="254" name="Google Shape;254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0" y="1110704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4"/>
          <p:cNvSpPr txBox="1"/>
          <p:nvPr/>
        </p:nvSpPr>
        <p:spPr>
          <a:xfrm>
            <a:off x="3700462" y="4112865"/>
            <a:ext cx="1505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4185"/>
                </a:solidFill>
                <a:latin typeface="Lato"/>
                <a:ea typeface="Lato"/>
                <a:cs typeface="Lato"/>
                <a:sym typeface="Lato"/>
              </a:rPr>
              <a:t>1900 1018</a:t>
            </a:r>
            <a:endParaRPr/>
          </a:p>
        </p:txBody>
      </p:sp>
      <p:sp>
        <p:nvSpPr>
          <p:cNvPr id="256" name="Google Shape;256;p24"/>
          <p:cNvSpPr txBox="1"/>
          <p:nvPr/>
        </p:nvSpPr>
        <p:spPr>
          <a:xfrm>
            <a:off x="3700462" y="4600426"/>
            <a:ext cx="1505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Hotline Support</a:t>
            </a:r>
            <a:endParaRPr/>
          </a:p>
        </p:txBody>
      </p:sp>
      <p:sp>
        <p:nvSpPr>
          <p:cNvPr id="257" name="Google Shape;257;p24"/>
          <p:cNvSpPr txBox="1"/>
          <p:nvPr/>
        </p:nvSpPr>
        <p:spPr>
          <a:xfrm>
            <a:off x="6367448" y="4112875"/>
            <a:ext cx="2562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4185"/>
                </a:solidFill>
                <a:latin typeface="Lato"/>
                <a:ea typeface="Lato"/>
                <a:cs typeface="Lato"/>
                <a:sym typeface="Lato"/>
              </a:rPr>
              <a:t>Direct </a:t>
            </a:r>
            <a:r>
              <a:rPr lang="en-US" sz="2400" b="1">
                <a:solidFill>
                  <a:srgbClr val="004185"/>
                </a:solidFill>
                <a:latin typeface="Lato"/>
                <a:ea typeface="Lato"/>
                <a:cs typeface="Lato"/>
                <a:sym typeface="Lato"/>
              </a:rPr>
              <a:t>Network</a:t>
            </a:r>
            <a:endParaRPr/>
          </a:p>
        </p:txBody>
      </p:sp>
      <p:sp>
        <p:nvSpPr>
          <p:cNvPr id="258" name="Google Shape;258;p24"/>
          <p:cNvSpPr txBox="1"/>
          <p:nvPr/>
        </p:nvSpPr>
        <p:spPr>
          <a:xfrm>
            <a:off x="6586612" y="4600426"/>
            <a:ext cx="2124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Nationwide Presence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545</Words>
  <Application>Microsoft Office PowerPoint</Application>
  <PresentationFormat>Custom</PresentationFormat>
  <Paragraphs>82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Poppins</vt:lpstr>
      <vt:lpstr>Calibri</vt:lpstr>
      <vt:lpstr>Lato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cp:lastModifiedBy>KHANHNH</cp:lastModifiedBy>
  <cp:revision>4</cp:revision>
  <dcterms:modified xsi:type="dcterms:W3CDTF">2026-05-12T09:01:16Z</dcterms:modified>
</cp:coreProperties>
</file>